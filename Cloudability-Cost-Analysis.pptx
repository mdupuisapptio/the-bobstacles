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by Vendor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8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8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9B5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285F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ED6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AWS</c:v>
                  </c:pt>
                  <c:pt idx="1">
                    <c:v>Azure</c:v>
                  </c:pt>
                  <c:pt idx="2">
                    <c:v>OCI</c:v>
                  </c:pt>
                  <c:pt idx="3">
                    <c:v>Snowflake</c:v>
                  </c:pt>
                  <c:pt idx="4">
                    <c:v>GCP</c:v>
                  </c:pt>
                  <c:pt idx="5">
                    <c:v>MongoDB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5900000</c:v>
                </c:pt>
                <c:pt idx="1">
                  <c:v>4500000</c:v>
                </c:pt>
                <c:pt idx="2">
                  <c:v>1500000</c:v>
                </c:pt>
                <c:pt idx="3">
                  <c:v>500000</c:v>
                </c:pt>
                <c:pt idx="4">
                  <c:v>400000</c:v>
                </c:pt>
                <c:pt idx="5">
                  <c:v>100000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Cloud Vendor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Cost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AWS Top Services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EC2</c:v>
                  </c:pt>
                  <c:pt idx="1">
                    <c:v>Savings Plans</c:v>
                  </c:pt>
                  <c:pt idx="2">
                    <c:v>RDS</c:v>
                  </c:pt>
                  <c:pt idx="3">
                    <c:v>EMR</c:v>
                  </c:pt>
                  <c:pt idx="4">
                    <c:v>S3</c:v>
                  </c:pt>
                  <c:pt idx="5">
                    <c:v>Support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2649695</c:v>
                </c:pt>
                <c:pt idx="1">
                  <c:v>754656</c:v>
                </c:pt>
                <c:pt idx="2">
                  <c:v>631345</c:v>
                </c:pt>
                <c:pt idx="3">
                  <c:v>407566</c:v>
                </c:pt>
                <c:pt idx="4">
                  <c:v>341687</c:v>
                </c:pt>
                <c:pt idx="5">
                  <c:v>102138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Service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0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Cost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Azure Top Services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Capacity</c:v>
                  </c:pt>
                  <c:pt idx="1">
                    <c:v>Storage</c:v>
                  </c:pt>
                  <c:pt idx="2">
                    <c:v>Wiz</c:v>
                  </c:pt>
                  <c:pt idx="3">
                    <c:v>Databricks</c:v>
                  </c:pt>
                  <c:pt idx="4">
                    <c:v>SQL</c:v>
                  </c:pt>
                  <c:pt idx="5">
                    <c:v>Ops Insights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607550</c:v>
                </c:pt>
                <c:pt idx="1">
                  <c:v>496821</c:v>
                </c:pt>
                <c:pt idx="2">
                  <c:v>400694</c:v>
                </c:pt>
                <c:pt idx="3">
                  <c:v>346727</c:v>
                </c:pt>
                <c:pt idx="4">
                  <c:v>266358</c:v>
                </c:pt>
                <c:pt idx="5">
                  <c:v>164829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Service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Cost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0499" y="1543050"/>
            <a:ext cx="602300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Cost Analysis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60499" y="2501801"/>
            <a:ext cx="60230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Service-Level Breakdown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60499" y="3362176"/>
            <a:ext cx="60230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17 - June 16,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6213"/>
            <a:ext cx="344733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888950"/>
            <a:ext cx="8382000" cy="2301776"/>
          </a:xfrm>
          <a:prstGeom prst="roundRect">
            <a:avLst>
              <a:gd name="adj" fmla="val 44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888950"/>
            <a:ext cx="0" cy="2301776"/>
          </a:xfrm>
          <a:prstGeom prst="line">
            <a:avLst/>
          </a:prstGeom>
          <a:noFill/>
          <a:ln w="762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041350"/>
            <a:ext cx="81610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Cost Comparison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533376"/>
            <a:ext cx="24358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Period (May 17 - Jun 16):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63024" y="1533376"/>
            <a:ext cx="864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$12,632,887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085826"/>
            <a:ext cx="2522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Period (Apr 17 - May 16):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63024" y="2085826"/>
            <a:ext cx="864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$12,377,556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2638276"/>
            <a:ext cx="6217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05675" y="2638276"/>
            <a:ext cx="1331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+$255,331 (+2.1%)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81000" y="3343126"/>
          <a:ext cx="8382000" cy="1650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6213"/>
            <a:ext cx="503187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 (AWS)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015901"/>
            <a:ext cx="4064050" cy="2183755"/>
          </a:xfrm>
          <a:prstGeom prst="roundRect">
            <a:avLst>
              <a:gd name="adj" fmla="val 46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1015901"/>
            <a:ext cx="0" cy="2183755"/>
          </a:xfrm>
          <a:prstGeom prst="line">
            <a:avLst/>
          </a:prstGeom>
          <a:noFill/>
          <a:ln w="762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1206401"/>
            <a:ext cx="36789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Services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7700" y="1600051"/>
            <a:ext cx="3606850" cy="134570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EC2: $2.65M (-12.8%)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Plans: $755K (+5.5%)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RDS: $631K (-1.7%)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EMR: $408K (-21.8%)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 $342K (-6.5%)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Support: $102K (-35.7%)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3390156"/>
            <a:ext cx="4064050" cy="1479203"/>
          </a:xfrm>
          <a:prstGeom prst="roundRect">
            <a:avLst>
              <a:gd name="adj" fmla="val 68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19100" y="3390156"/>
            <a:ext cx="0" cy="1479203"/>
          </a:xfrm>
          <a:prstGeom prst="line">
            <a:avLst/>
          </a:prstGeom>
          <a:noFill/>
          <a:ln w="762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" y="3580656"/>
            <a:ext cx="36789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700" y="3974306"/>
            <a:ext cx="3606850" cy="64115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costs decreased $390K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EMR usage down 22%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costs reduced 36%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698950" y="1015901"/>
          <a:ext cx="406405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6213"/>
            <a:ext cx="272701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015901"/>
            <a:ext cx="4064050" cy="2183755"/>
          </a:xfrm>
          <a:prstGeom prst="roundRect">
            <a:avLst>
              <a:gd name="adj" fmla="val 46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1015901"/>
            <a:ext cx="0" cy="2183755"/>
          </a:xfrm>
          <a:prstGeom prst="line">
            <a:avLst/>
          </a:prstGeom>
          <a:noFill/>
          <a:ln w="762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1206401"/>
            <a:ext cx="36789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Services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7700" y="1600051"/>
            <a:ext cx="3606850" cy="134570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(RIs): $608K (-15.5%)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$497K (-2.6%)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 Security: $401K (New)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Databricks: $347K (+9.3%)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$266K (-6.7%)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Insights: $165K (+10.9%)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3390156"/>
            <a:ext cx="4064050" cy="1479203"/>
          </a:xfrm>
          <a:prstGeom prst="roundRect">
            <a:avLst>
              <a:gd name="adj" fmla="val 68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19100" y="3390156"/>
            <a:ext cx="0" cy="1479203"/>
          </a:xfrm>
          <a:prstGeom prst="line">
            <a:avLst/>
          </a:prstGeom>
          <a:noFill/>
          <a:ln w="762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" y="3580656"/>
            <a:ext cx="36789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700" y="3974306"/>
            <a:ext cx="3606850" cy="64115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Wiz security platform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usage growing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 costs decreasing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698950" y="1015901"/>
          <a:ext cx="406405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6213"/>
            <a:ext cx="38693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Cloud Providers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015901"/>
          <a:ext cx="8382000" cy="3301901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</a:tblGrid>
              <a:tr h="5503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Provider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Current Period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Previous Period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5503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OCI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$1,500,000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$1,600,000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-$100,000 (-6.3%)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03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Snowflake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$500,000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$450,000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+$50,000 (+11.1%)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03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GCP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$400,000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$410,000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-$10,000 (-2.4%)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03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MongoDB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$100,000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-$150,000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+$250,000 (credits)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03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Databricks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$3,000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$3,900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-$900 (-23.1%)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Cost Analysis - Service Level Breakdown</dc:title>
  <dc:subject>PptxGenJS Presentation</dc:subject>
  <dc:creator>Cloudability Analysis</dc:creator>
  <cp:lastModifiedBy>Cloudability Analysis</cp:lastModifiedBy>
  <cp:revision>1</cp:revision>
  <dcterms:created xsi:type="dcterms:W3CDTF">2026-06-16T13:23:37Z</dcterms:created>
  <dcterms:modified xsi:type="dcterms:W3CDTF">2026-06-16T13:23:37Z</dcterms:modified>
</cp:coreProperties>
</file>